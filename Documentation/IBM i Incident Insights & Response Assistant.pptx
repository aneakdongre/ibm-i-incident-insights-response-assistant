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Relationship Id="rId20" Type="http://schemas.openxmlformats.org/officeDocument/2006/relationships/image" Target="../media/image45.png"/><Relationship Id="rId21" Type="http://schemas.openxmlformats.org/officeDocument/2006/relationships/image" Target="../media/image46.png"/><Relationship Id="rId22" Type="http://schemas.openxmlformats.org/officeDocument/2006/relationships/image" Target="../media/image47.png"/><Relationship Id="rId23" Type="http://schemas.openxmlformats.org/officeDocument/2006/relationships/image" Target="../media/image48.png"/><Relationship Id="rId24" Type="http://schemas.openxmlformats.org/officeDocument/2006/relationships/image" Target="../media/image49.png"/><Relationship Id="rId25" Type="http://schemas.openxmlformats.org/officeDocument/2006/relationships/image" Target="../media/image50.png"/><Relationship Id="rId26" Type="http://schemas.openxmlformats.org/officeDocument/2006/relationships/image" Target="../media/image51.png"/><Relationship Id="rId27" Type="http://schemas.openxmlformats.org/officeDocument/2006/relationships/image" Target="../media/image52.png"/><Relationship Id="rId28" Type="http://schemas.openxmlformats.org/officeDocument/2006/relationships/image" Target="../media/image53.png"/><Relationship Id="rId29" Type="http://schemas.openxmlformats.org/officeDocument/2006/relationships/image" Target="../media/image54.png"/><Relationship Id="rId30" Type="http://schemas.openxmlformats.org/officeDocument/2006/relationships/image" Target="../media/image55.png"/><Relationship Id="rId31" Type="http://schemas.openxmlformats.org/officeDocument/2006/relationships/image" Target="../media/image56.png"/><Relationship Id="rId32" Type="http://schemas.openxmlformats.org/officeDocument/2006/relationships/image" Target="../media/image57.png"/><Relationship Id="rId33" Type="http://schemas.openxmlformats.org/officeDocument/2006/relationships/image" Target="../media/image58.png"/><Relationship Id="rId34" Type="http://schemas.openxmlformats.org/officeDocument/2006/relationships/image" Target="../media/image59.png"/><Relationship Id="rId35" Type="http://schemas.openxmlformats.org/officeDocument/2006/relationships/image" Target="../media/image60.png"/><Relationship Id="rId36" Type="http://schemas.openxmlformats.org/officeDocument/2006/relationships/image" Target="../media/image6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Relationship Id="rId18" Type="http://schemas.openxmlformats.org/officeDocument/2006/relationships/image" Target="../media/image77.png"/><Relationship Id="rId19" Type="http://schemas.openxmlformats.org/officeDocument/2006/relationships/image" Target="../media/image78.png"/><Relationship Id="rId20" Type="http://schemas.openxmlformats.org/officeDocument/2006/relationships/image" Target="../media/image79.png"/><Relationship Id="rId21" Type="http://schemas.openxmlformats.org/officeDocument/2006/relationships/image" Target="../media/image80.png"/><Relationship Id="rId22" Type="http://schemas.openxmlformats.org/officeDocument/2006/relationships/image" Target="../media/image81.png"/><Relationship Id="rId23" Type="http://schemas.openxmlformats.org/officeDocument/2006/relationships/image" Target="../media/image82.png"/><Relationship Id="rId24" Type="http://schemas.openxmlformats.org/officeDocument/2006/relationships/image" Target="../media/image83.png"/><Relationship Id="rId25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906041"/>
            <a:ext cx="3520529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610" y="2986087"/>
            <a:ext cx="4839890" cy="34718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986087"/>
            <a:ext cx="6113710" cy="15061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4663678"/>
            <a:ext cx="6113710" cy="15061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6685" y="3910012"/>
            <a:ext cx="4401740" cy="51792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6685" y="4513659"/>
            <a:ext cx="4401740" cy="51792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6685" y="5117306"/>
            <a:ext cx="4401740" cy="51792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6685" y="5720953"/>
            <a:ext cx="4401740" cy="51792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6350" y="-552450"/>
            <a:ext cx="4286250" cy="4622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6920" y="1719560"/>
            <a:ext cx="3619500" cy="39037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50" y="1252686"/>
            <a:ext cx="4381500" cy="6533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350" y="2210841"/>
            <a:ext cx="116776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oppins"/>
              </a:rPr>
              <a:t>IBM i Incident </a:t>
            </a:r>
            <a:r>
              <a:rPr b="1" sz="2400" i="0" u="none">
                <a:solidFill>
                  <a:srgbClr val="0F172A"/>
                </a:solidFill>
                <a:latin typeface="Poppins"/>
              </a:rPr>
              <a:t>Insights &amp; Response</a:t>
            </a:r>
            <a:r>
              <a:rPr b="1" sz="2400" i="0" u="none">
                <a:solidFill>
                  <a:srgbClr val="0F172A"/>
                </a:solidFill>
                <a:latin typeface="Poppins"/>
              </a:rPr>
              <a:t>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" y="2614612"/>
            <a:ext cx="11163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64748B"/>
                </a:solidFill>
                <a:latin typeface="Inter"/>
              </a:rPr>
              <a:t>AI-assisted operational incident analysis, pattern identification, and stakeholder communication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" y="1967954"/>
            <a:ext cx="144809" cy="104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56685" y="3633787"/>
            <a:ext cx="440174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64748B"/>
                </a:solidFill>
                <a:latin typeface="Inter"/>
              </a:rPr>
              <a:t>A modular cloud-ready architecture built with industry-standard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3662362"/>
            <a:ext cx="5599360" cy="610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4"/>
              </a:lnSpc>
            </a:pPr>
            <a:r>
              <a:rPr b="0" sz="1035" i="0" u="none">
                <a:solidFill>
                  <a:srgbClr val="334155"/>
                </a:solidFill>
                <a:latin typeface="Inter"/>
              </a:rPr>
              <a:t>IBM i operational teams routinely inspect extensive incident logs to isolate critical patterns and operational risks. Manual analysis can be labor-intensive and makes it challenging to rapidly summarize actionable takeaways under tight operational timelines.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5339953"/>
            <a:ext cx="5599360" cy="610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4"/>
              </a:lnSpc>
            </a:pPr>
            <a:r>
              <a:rPr b="0" sz="1035" i="0" u="none">
                <a:solidFill>
                  <a:srgbClr val="334155"/>
                </a:solidFill>
                <a:latin typeface="Inter"/>
              </a:rPr>
              <a:t>Develop an AI-assisted operational analysis application that ingests IBM i incident data, isolates validated operational findings, produces structured Gemini AI-assisted interpretations, and streamlines communication through email distribution.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6685" y="3233737"/>
            <a:ext cx="342900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94835" y="3281362"/>
            <a:ext cx="155019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0F172A"/>
                </a:solidFill>
                <a:latin typeface="Poppins SemiBold"/>
              </a:rPr>
              <a:t>Key Technologies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575" y="3205162"/>
            <a:ext cx="361950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66825" y="3262312"/>
            <a:ext cx="204025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0F172A"/>
                </a:solidFill>
                <a:latin typeface="Poppins SemiBold"/>
              </a:rPr>
              <a:t>Problem &amp; Opportunity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75" y="4882753"/>
            <a:ext cx="361950" cy="3619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66825" y="4939903"/>
            <a:ext cx="151018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0F172A"/>
                </a:solidFill>
                <a:latin typeface="Poppins SemiBold"/>
              </a:rPr>
              <a:t>Project Objective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61460" y="3328987"/>
            <a:ext cx="1333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18610" y="4016573"/>
            <a:ext cx="3048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18610" y="4620220"/>
            <a:ext cx="304800" cy="304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18610" y="5223867"/>
            <a:ext cx="304800" cy="3048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18610" y="5827514"/>
            <a:ext cx="304800" cy="3048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5350" y="3309937"/>
            <a:ext cx="1524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5350" y="4987528"/>
            <a:ext cx="1524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04335" y="4092773"/>
            <a:ext cx="13335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637710" y="4014787"/>
            <a:ext cx="281035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0F172A"/>
                </a:solidFill>
                <a:latin typeface="Inter SemiBold"/>
              </a:rPr>
              <a:t>Python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7710" y="4186237"/>
            <a:ext cx="2676525" cy="136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8"/>
              </a:lnSpc>
            </a:pPr>
            <a:r>
              <a:rPr b="0" sz="862" i="0" u="none">
                <a:solidFill>
                  <a:srgbClr val="64748B"/>
                </a:solidFill>
                <a:latin typeface="Inter"/>
              </a:rPr>
              <a:t>Data validation, analytical parsing, and orchestration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85285" y="4696420"/>
            <a:ext cx="17145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37710" y="4618434"/>
            <a:ext cx="305038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0F172A"/>
                </a:solidFill>
                <a:latin typeface="Inter SemiBold"/>
              </a:rPr>
              <a:t>Streamlit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7710" y="4789884"/>
            <a:ext cx="2905125" cy="136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8"/>
              </a:lnSpc>
            </a:pPr>
            <a:r>
              <a:rPr b="0" sz="862" i="0" u="none">
                <a:solidFill>
                  <a:srgbClr val="64748B"/>
                </a:solidFill>
                <a:latin typeface="Inter"/>
              </a:rPr>
              <a:t>Interactive incident dashboard and operator workflow UI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94810" y="5300067"/>
            <a:ext cx="152400" cy="15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637710" y="5222081"/>
            <a:ext cx="326040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0F172A"/>
                </a:solidFill>
                <a:latin typeface="Inter SemiBold"/>
              </a:rPr>
              <a:t>Google Gemini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7710" y="5393531"/>
            <a:ext cx="3105150" cy="136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8"/>
              </a:lnSpc>
            </a:pPr>
            <a:r>
              <a:rPr b="0" sz="862" i="0" u="none">
                <a:solidFill>
                  <a:srgbClr val="64748B"/>
                </a:solidFill>
                <a:latin typeface="Inter"/>
              </a:rPr>
              <a:t>Structured operational insights, hypotheses, and summaries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94810" y="5903714"/>
            <a:ext cx="152400" cy="152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637710" y="5825728"/>
            <a:ext cx="348043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0F172A"/>
                </a:solidFill>
                <a:latin typeface="Inter SemiBold"/>
              </a:rPr>
              <a:t>Gmail API &amp; Google OAuth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7710" y="5997178"/>
            <a:ext cx="3314700" cy="136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8"/>
              </a:lnSpc>
            </a:pPr>
            <a:r>
              <a:rPr b="0" sz="862" i="0" u="none">
                <a:solidFill>
                  <a:srgbClr val="64748B"/>
                </a:solidFill>
                <a:latin typeface="Inter"/>
              </a:rPr>
              <a:t>Secure stakeholder insight dispatch with OAuth 2.0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072729"/>
            <a:ext cx="2949029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3152775"/>
            <a:ext cx="11163300" cy="1371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4714875"/>
            <a:ext cx="5620196" cy="1743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5046" y="4714875"/>
            <a:ext cx="5352603" cy="1743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3352800"/>
            <a:ext cx="1257300" cy="971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3352800"/>
            <a:ext cx="1257300" cy="971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6675" y="3352800"/>
            <a:ext cx="1257300" cy="971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7350" y="3352800"/>
            <a:ext cx="1257300" cy="971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8025" y="3352800"/>
            <a:ext cx="1257300" cy="971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48700" y="3352800"/>
            <a:ext cx="1257300" cy="971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39375" y="3352800"/>
            <a:ext cx="1257300" cy="971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6350" y="-552450"/>
            <a:ext cx="4286250" cy="69309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50" y="1093142"/>
            <a:ext cx="4381500" cy="97958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4350" y="2377529"/>
            <a:ext cx="116776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oppins"/>
              </a:rPr>
              <a:t>Solution </a:t>
            </a:r>
            <a:r>
              <a:rPr b="1" sz="2400" i="0" u="none">
                <a:solidFill>
                  <a:srgbClr val="0F172A"/>
                </a:solidFill>
                <a:latin typeface="Poppins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" y="2781300"/>
            <a:ext cx="11163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64748B"/>
                </a:solidFill>
                <a:latin typeface="Inter"/>
              </a:rPr>
              <a:t>Deterministic pipeline linked with AI-assisted insights and mandatory human-in-the-loop validation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175" y="2134641"/>
            <a:ext cx="144809" cy="1047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9650" y="5139779"/>
            <a:ext cx="4905821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62" i="0" u="none">
                <a:solidFill>
                  <a:srgbClr val="1E40AF"/>
                </a:solidFill>
                <a:latin typeface="Poppins SemiBold"/>
              </a:rPr>
              <a:t>Architectural Separation of Concerns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5435054"/>
            <a:ext cx="5143946" cy="597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b="0" sz="1012" i="0" u="none">
                <a:solidFill>
                  <a:srgbClr val="1E3A8A"/>
                </a:solidFill>
                <a:latin typeface="Inter"/>
              </a:rPr>
              <a:t>The application strictly separates verified, data-driven findings from AI-assisted interpretations. AI-generated risks, hypotheses, and recommendations are advisory and require before operational use or distribution.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721" y="4924425"/>
            <a:ext cx="4685853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62" i="0" u="none">
                <a:solidFill>
                  <a:srgbClr val="0F172A"/>
                </a:solidFill>
                <a:latin typeface="Poppins SemiBold"/>
              </a:rPr>
              <a:t>Core Application Capabilities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9675" y="3286125"/>
            <a:ext cx="228600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09662" y="3845867"/>
            <a:ext cx="428625" cy="28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6"/>
              </a:lnSpc>
            </a:pPr>
            <a:r>
              <a:rPr b="0" sz="885" i="0" u="none">
                <a:solidFill>
                  <a:srgbClr val="0F172A"/>
                </a:solidFill>
                <a:latin typeface="Inter SemiBold"/>
              </a:rPr>
              <a:t>Incident</a:t>
            </a:r>
            <a:r>
              <a:t>
</a:t>
            </a:r>
            <a:r>
              <a:rPr b="0" sz="885" i="0" u="none">
                <a:solidFill>
                  <a:srgbClr val="0F172A"/>
                </a:solidFill>
                <a:latin typeface="Inter SemiBold"/>
              </a:rPr>
              <a:t> Data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76450" y="3767137"/>
            <a:ext cx="8572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90825" y="3286125"/>
            <a:ext cx="247650" cy="1238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647950" y="3845867"/>
            <a:ext cx="533400" cy="28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6"/>
              </a:lnSpc>
            </a:pPr>
            <a:r>
              <a:rPr b="0" sz="885" i="0" u="none">
                <a:solidFill>
                  <a:srgbClr val="0F172A"/>
                </a:solidFill>
                <a:latin typeface="Inter SemiBold"/>
              </a:rPr>
              <a:t>Data</a:t>
            </a:r>
            <a:r>
              <a:t>
</a:t>
            </a:r>
            <a:r>
              <a:rPr b="0" sz="885" i="0" u="none">
                <a:solidFill>
                  <a:srgbClr val="0F172A"/>
                </a:solidFill>
                <a:latin typeface="Inter SemiBold"/>
              </a:rPr>
              <a:t> Validation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67125" y="3767137"/>
            <a:ext cx="8572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81500" y="3286125"/>
            <a:ext cx="247650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191000" y="3845867"/>
            <a:ext cx="628650" cy="28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6"/>
              </a:lnSpc>
            </a:pPr>
            <a:r>
              <a:rPr b="0" sz="885" i="0" u="none">
                <a:solidFill>
                  <a:srgbClr val="0F172A"/>
                </a:solidFill>
                <a:latin typeface="Inter SemiBold"/>
              </a:rPr>
              <a:t>Operational</a:t>
            </a:r>
            <a:r>
              <a:t>
</a:t>
            </a:r>
            <a:r>
              <a:rPr b="0" sz="885" i="0" u="none">
                <a:solidFill>
                  <a:srgbClr val="0F172A"/>
                </a:solidFill>
                <a:latin typeface="Inter SemiBold"/>
              </a:rPr>
              <a:t> Analysis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57800" y="3767137"/>
            <a:ext cx="8572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72175" y="3286125"/>
            <a:ext cx="247650" cy="1238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43587" y="3845867"/>
            <a:ext cx="504825" cy="28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6"/>
              </a:lnSpc>
            </a:pPr>
            <a:r>
              <a:rPr b="0" sz="885" i="0" u="none">
                <a:solidFill>
                  <a:srgbClr val="0F172A"/>
                </a:solidFill>
                <a:latin typeface="Inter SemiBold"/>
              </a:rPr>
              <a:t>Validated</a:t>
            </a:r>
            <a:r>
              <a:t>
</a:t>
            </a:r>
            <a:r>
              <a:rPr b="0" sz="885" i="0" u="none">
                <a:solidFill>
                  <a:srgbClr val="0F172A"/>
                </a:solidFill>
                <a:latin typeface="Inter SemiBold"/>
              </a:rPr>
              <a:t> Findings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48475" y="3767137"/>
            <a:ext cx="857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62850" y="3286125"/>
            <a:ext cx="247650" cy="1238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24737" y="3845867"/>
            <a:ext cx="523875" cy="28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6"/>
              </a:lnSpc>
            </a:pPr>
            <a:r>
              <a:rPr b="0" sz="885" i="0" u="none">
                <a:solidFill>
                  <a:srgbClr val="0F172A"/>
                </a:solidFill>
                <a:latin typeface="Inter SemiBold"/>
              </a:rPr>
              <a:t>Gemini AI</a:t>
            </a:r>
            <a:r>
              <a:t>
</a:t>
            </a:r>
            <a:r>
              <a:rPr b="0" sz="885" i="0" u="none">
                <a:solidFill>
                  <a:srgbClr val="0F172A"/>
                </a:solidFill>
                <a:latin typeface="Inter SemiBold"/>
              </a:rPr>
              <a:t> Insights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150" y="3767137"/>
            <a:ext cx="8572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39225" y="3286125"/>
            <a:ext cx="476250" cy="12382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67775" y="3845867"/>
            <a:ext cx="819150" cy="28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6"/>
              </a:lnSpc>
            </a:pPr>
            <a:r>
              <a:rPr b="0" sz="885" i="0" u="none">
                <a:solidFill>
                  <a:srgbClr val="0F172A"/>
                </a:solidFill>
                <a:latin typeface="Inter SemiBold"/>
              </a:rPr>
              <a:t>Human Review</a:t>
            </a:r>
            <a:r>
              <a:t>
</a:t>
            </a:r>
            <a:r>
              <a:rPr b="0" sz="885" i="0" u="none">
                <a:solidFill>
                  <a:srgbClr val="0F172A"/>
                </a:solidFill>
                <a:latin typeface="Inter SemiBold"/>
              </a:rPr>
              <a:t> &amp; Validation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29825" y="3767137"/>
            <a:ext cx="8572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44200" y="3286125"/>
            <a:ext cx="247650" cy="1238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601325" y="3845867"/>
            <a:ext cx="533400" cy="28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6"/>
              </a:lnSpc>
            </a:pPr>
            <a:r>
              <a:rPr b="0" sz="885" i="0" u="none">
                <a:solidFill>
                  <a:srgbClr val="0F172A"/>
                </a:solidFill>
                <a:latin typeface="Inter SemiBold"/>
              </a:rPr>
              <a:t>Email via</a:t>
            </a:r>
            <a:r>
              <a:t>
</a:t>
            </a:r>
            <a:r>
              <a:rPr b="0" sz="885" i="0" u="none">
                <a:solidFill>
                  <a:srgbClr val="0F172A"/>
                </a:solidFill>
                <a:latin typeface="Inter SemiBold"/>
              </a:rPr>
              <a:t> Gmail API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1525" y="5175498"/>
            <a:ext cx="152400" cy="147637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04950" y="5833616"/>
            <a:ext cx="1885950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44121" y="4960143"/>
            <a:ext cx="152400" cy="147637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544121" y="5257800"/>
            <a:ext cx="2390477" cy="276225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29871" y="5314950"/>
            <a:ext cx="2009477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Inter"/>
              </a:rPr>
              <a:t>Incident dashboard &amp; triage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67948" y="5257800"/>
            <a:ext cx="2390626" cy="276225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53698" y="5314950"/>
            <a:ext cx="2009626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Inter"/>
              </a:rPr>
              <a:t>Pattern identification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44121" y="5629275"/>
            <a:ext cx="2390477" cy="276225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29871" y="5686425"/>
            <a:ext cx="2009477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Inter"/>
              </a:rPr>
              <a:t>Validated operational metrics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67948" y="5629275"/>
            <a:ext cx="2390626" cy="276225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3698" y="5686425"/>
            <a:ext cx="2009626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Inter"/>
              </a:rPr>
              <a:t>AI-generated insights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44121" y="6000750"/>
            <a:ext cx="2390477" cy="276225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29871" y="6057900"/>
            <a:ext cx="2009477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Inter"/>
              </a:rPr>
              <a:t>Gmail-based email sharing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67948" y="6000750"/>
            <a:ext cx="2390626" cy="276225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53698" y="6057900"/>
            <a:ext cx="2009626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Inter"/>
              </a:rPr>
              <a:t>Human sign-off workflow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38250" y="3569642"/>
            <a:ext cx="171450" cy="1905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19400" y="3569642"/>
            <a:ext cx="190500" cy="1905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410075" y="3569642"/>
            <a:ext cx="190500" cy="1905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24562" y="3569642"/>
            <a:ext cx="142875" cy="1905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591425" y="3569642"/>
            <a:ext cx="190500" cy="1905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58287" y="3569642"/>
            <a:ext cx="238125" cy="1905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772775" y="3569642"/>
            <a:ext cx="190500" cy="1905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6544121" y="5524500"/>
            <a:ext cx="23904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67948" y="5524500"/>
            <a:ext cx="2390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544121" y="5895975"/>
            <a:ext cx="23904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67948" y="5895975"/>
            <a:ext cx="2390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44121" y="6267450"/>
            <a:ext cx="23904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67948" y="6267450"/>
            <a:ext cx="2390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48896" y="5334000"/>
            <a:ext cx="114300" cy="123825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172723" y="5334000"/>
            <a:ext cx="114300" cy="123825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48896" y="5705475"/>
            <a:ext cx="114300" cy="123825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172723" y="5705475"/>
            <a:ext cx="114300" cy="123825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48896" y="6076950"/>
            <a:ext cx="114300" cy="123825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172723" y="6076950"/>
            <a:ext cx="1143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496466"/>
            <a:ext cx="2417564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5753100"/>
            <a:ext cx="11163300" cy="704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576512"/>
            <a:ext cx="5476875" cy="30051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775" y="2576512"/>
            <a:ext cx="5476875" cy="30051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350" y="-552450"/>
            <a:ext cx="4286250" cy="336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6920" y="1593800"/>
            <a:ext cx="3619500" cy="28426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1020812"/>
            <a:ext cx="4381500" cy="4756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4350" y="1801266"/>
            <a:ext cx="116776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oppins"/>
              </a:rPr>
              <a:t>Key Features &amp; </a:t>
            </a:r>
            <a:r>
              <a:rPr b="1" sz="2400" i="0" u="none">
                <a:solidFill>
                  <a:srgbClr val="0F172A"/>
                </a:solidFill>
                <a:latin typeface="Poppins"/>
              </a:rPr>
              <a:t>Expected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" y="2205037"/>
            <a:ext cx="11163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64748B"/>
                </a:solidFill>
                <a:latin typeface="Inter"/>
              </a:rPr>
              <a:t>Enabling rapid operational visibility while preserving human oversight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1558379"/>
            <a:ext cx="87659" cy="1047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5915025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5875" y="5919192"/>
            <a:ext cx="101536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38BDF8"/>
                </a:solidFill>
                <a:latin typeface="Inter SemiBold"/>
              </a:rPr>
              <a:t>Capstone Summary:</a:t>
            </a:r>
            <a:r>
              <a:rPr b="0" sz="1012" i="0" u="none">
                <a:solidFill>
                  <a:srgbClr val="E2E8F0"/>
                </a:solidFill>
                <a:latin typeface="Inter"/>
              </a:rPr>
              <a:t> This project demonstrates how Python, Gemini AI, and API integration can augment operational incident analysis while maintaining strict human oversight of AI-generated recommendations.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6015037"/>
            <a:ext cx="1333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425" y="2805112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3475" y="2819400"/>
            <a:ext cx="252031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47" i="0" u="none">
                <a:solidFill>
                  <a:srgbClr val="3730A3"/>
                </a:solidFill>
                <a:latin typeface="Poppins"/>
              </a:rPr>
              <a:t>Key Application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3243262"/>
            <a:ext cx="475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Interactive Streamlit UI: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Accessible incident analysis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175" y="3519487"/>
            <a:ext cx="475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Operational Pattern Analysis: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Aggregates repetitive errors and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3795712"/>
            <a:ext cx="4752975" cy="33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Validated Findings: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Deterministic Python/Pandas analysis of operational patterns and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175" y="4211240"/>
            <a:ext cx="475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Gemini AI Integration: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Structured contextual hypotheses and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4487465"/>
            <a:ext cx="475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Human Oversight Approach: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Mandatory validation before actioning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175" y="4763690"/>
            <a:ext cx="475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Gmail API Integration: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Secure sharing of AI-generated insights through 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175" y="5039915"/>
            <a:ext cx="475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Secure Credential Isolation: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Safe token handling with synthetic data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2805112"/>
            <a:ext cx="304800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9900" y="2819400"/>
            <a:ext cx="307038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47" i="0" u="none">
                <a:solidFill>
                  <a:srgbClr val="115E59"/>
                </a:solidFill>
                <a:latin typeface="Poppins"/>
              </a:rPr>
              <a:t>Expected Operational Benefits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3243262"/>
            <a:ext cx="4752975" cy="33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Faster Pattern Recognition: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Helps reduce the effort required to review incident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600" y="3658790"/>
            <a:ext cx="4752975" cy="33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Improved Risk Visibility: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Highlights operational patterns and potential areas requiring investigation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5600" y="4074318"/>
            <a:ext cx="475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Structured AI Analysis: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Standardized, repeatable analytical summaries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600" y="4350543"/>
            <a:ext cx="475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Enhanced Stakeholder Comms: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Clear, shareable executive summaries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5600" y="4626768"/>
            <a:ext cx="4752975" cy="33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Reusable Prototype: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Can be extended with future IBM i and DB2 for i data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600" y="5042296"/>
            <a:ext cx="4752975" cy="33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b="0" sz="989" i="0" u="none">
                <a:solidFill>
                  <a:srgbClr val="0F172A"/>
                </a:solidFill>
                <a:latin typeface="Inter SemiBold"/>
              </a:rPr>
              <a:t>Human Oversight:</a:t>
            </a:r>
            <a:r>
              <a:rPr b="0" sz="989" i="0" u="none">
                <a:solidFill>
                  <a:srgbClr val="334155"/>
                </a:solidFill>
                <a:latin typeface="Inter"/>
              </a:rPr>
              <a:t> AI-generated insights require review and validation before operational decisions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862" y="2886075"/>
            <a:ext cx="1619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425" y="3252787"/>
            <a:ext cx="1905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425" y="3529012"/>
            <a:ext cx="190500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425" y="3805237"/>
            <a:ext cx="190500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425" y="4220765"/>
            <a:ext cx="190500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425" y="4496990"/>
            <a:ext cx="19050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3425" y="4773215"/>
            <a:ext cx="190500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425" y="5049440"/>
            <a:ext cx="190500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00812" y="2886075"/>
            <a:ext cx="14287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3252787"/>
            <a:ext cx="190500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9850" y="3668315"/>
            <a:ext cx="190500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4083843"/>
            <a:ext cx="190500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4360068"/>
            <a:ext cx="190500" cy="1905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4636293"/>
            <a:ext cx="190500" cy="1905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9850" y="5051821"/>
            <a:ext cx="190500" cy="1905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1050" y="3295650"/>
            <a:ext cx="95250" cy="1047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1050" y="3571875"/>
            <a:ext cx="95250" cy="1047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1050" y="3848100"/>
            <a:ext cx="95250" cy="1047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050" y="4263628"/>
            <a:ext cx="95250" cy="1047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050" y="4539853"/>
            <a:ext cx="95250" cy="1047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050" y="4816078"/>
            <a:ext cx="95250" cy="1047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050" y="5092303"/>
            <a:ext cx="95250" cy="1047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57950" y="3295650"/>
            <a:ext cx="114300" cy="1047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57950" y="3711178"/>
            <a:ext cx="114300" cy="1047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57950" y="4126706"/>
            <a:ext cx="114300" cy="10477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57950" y="4402931"/>
            <a:ext cx="114300" cy="10477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57950" y="4679156"/>
            <a:ext cx="114300" cy="10477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57950" y="5094684"/>
            <a:ext cx="114300" cy="104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